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286000"/>
            <a:ext cx="9418320" cy="36576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4231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38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Financial NLP: Stance and Sentiment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5204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200" b="0">
                <a:solidFill>
                  <a:srgbClr val="D6E8F7"/>
                </a:solidFill>
                <a:latin typeface="Calibri"/>
              </a:defRPr>
              <a:lnSpc>
                <a:spcPct val="114999"/>
              </a:lnSpc>
            </a:pPr>
            <a:r>
              <a:t>COMP6713 2026 T1 — Group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160520"/>
            <a:ext cx="9418320" cy="36576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4348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600" b="0">
                <a:solidFill>
                  <a:srgbClr val="AABBCC"/>
                </a:solidFill>
                <a:latin typeface="Calibri"/>
              </a:defRPr>
              <a:lnSpc>
                <a:spcPct val="114999"/>
              </a:lnSpc>
            </a:pPr>
            <a:r>
              <a:t>Member A (zID) | Member B (zID) | Member C (zID) | Member D (zID)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Problem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03520" cy="237744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>
                <a:solidFill>
                  <a:srgbClr val="1B2A4A"/>
                </a:solidFill>
                <a:latin typeface="Calibri"/>
              </a:defRPr>
              <a:lnSpc>
                <a:spcPct val="114999"/>
              </a:lnSpc>
            </a:pPr>
            <a:r>
              <a:t>Task 1: Stance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Classify FOMC sentences as hawkish / dovish / neutral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Source: Federal Open Market Committee minutes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Hawkish = tightening bias, Dovish = easing bias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High ambiguity: policy language is deliberately hedged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303520" cy="237744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>
                <a:solidFill>
                  <a:srgbClr val="1B2A4A"/>
                </a:solidFill>
                <a:latin typeface="Calibri"/>
              </a:defRPr>
              <a:lnSpc>
                <a:spcPct val="114999"/>
              </a:lnSpc>
            </a:pPr>
            <a:r>
              <a:t>Task 2: Sentiment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Classify financial news as positive / negative / neutral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Source: Financial PhraseBank (Malo et al., 2014)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Domain-specific sentiment: 'volatility' is negative here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Cleaner annotations but domain vocabulary still matters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11247120" cy="2103120"/>
          </a:xfrm>
          <a:prstGeom prst="rect">
            <a:avLst/>
          </a:prstGeom>
          <a:solidFill>
            <a:srgbClr val="FD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>
                <a:solidFill>
                  <a:srgbClr val="1B2A4A"/>
                </a:solidFill>
                <a:latin typeface="Calibri"/>
              </a:defRPr>
              <a:lnSpc>
                <a:spcPct val="114999"/>
              </a:lnSpc>
            </a:pPr>
            <a:r>
              <a:t>Why This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1772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Central-bank language moves markets: a single word change in FOMC statements can shift billions in asset prices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Automated stance + sentiment analysis enables real-time monitoring of monetary policy signals and financial news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Shared challenges (domain vocabulary, class imbalance) motivate a multi-task approach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Datasets &amp; Preprocessing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1097280"/>
                <a:gridCol w="3291840"/>
                <a:gridCol w="365760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Sentences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Classes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Label Distribution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FOMC Hawkish-Dovish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2,480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Neutral ~50%, Hawkish ~30%,</a:t>
                      </a:r>
                    </a:p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Dovish ~20%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Significant class imbalance;</a:t>
                      </a:r>
                    </a:p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weighted loss required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Financial PhraseBank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2,264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Neutral ~59%, Positive ~28%,</a:t>
                      </a:r>
                    </a:p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Negative ~13%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100% annotator agreement</a:t>
                      </a:r>
                    </a:p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subset; cleaner labels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Loughran-McDonald</a:t>
                      </a:r>
                    </a:p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Lexicon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6 word lists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Positive, Negative,</a:t>
                      </a:r>
                    </a:p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Uncertainty, Litigious, ...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Domain-specific; used for</a:t>
                      </a:r>
                    </a:p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rule-based + feature aug.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>
                <a:solidFill>
                  <a:srgbClr val="1B2A4A"/>
                </a:solidFill>
                <a:latin typeface="Calibri"/>
              </a:defRPr>
              <a:lnSpc>
                <a:spcPct val="114999"/>
              </a:lnSpc>
            </a:pPr>
            <a:r>
              <a:t>Preprocessing &amp; Splits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434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Stratified split: 70% train / 10% validation / 20% test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Tokenization: BERT WordPiece (max_length=128)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No aggressive cleaning — financial jargon is informative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Lexicon features: count-based vectors per LM 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>
                <a:solidFill>
                  <a:srgbClr val="1B2A4A"/>
                </a:solidFill>
                <a:latin typeface="Calibri"/>
              </a:defRPr>
              <a:lnSpc>
                <a:spcPct val="114999"/>
              </a:lnSpc>
            </a:pPr>
            <a:r>
              <a:t>Class Imbalance Handling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34340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Weighted cross-entropy: inverse class frequency weights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Stratified sampling preserves label ratios across splits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Evaluation: macro-F1 as primary metric (handles imbalance)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Accuracy reported for comparability with prior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Modelling Pipeline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286000" cy="640080"/>
          </a:xfrm>
          <a:prstGeom prst="roundRect">
            <a:avLst/>
          </a:prstGeom>
          <a:solidFill>
            <a:srgbClr val="5D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Baselines</a:t>
            </a:r>
            <a:br/>
            <a:r>
              <a:t>TF-IDF + LR/SVM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90672" y="1993392"/>
            <a:ext cx="173736" cy="320040"/>
          </a:xfrm>
          <a:prstGeom prst="rightArrow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37560" y="1828800"/>
            <a:ext cx="2286000" cy="640080"/>
          </a:xfrm>
          <a:prstGeom prst="roundRect">
            <a:avLst/>
          </a:prstGeom>
          <a:solidFill>
            <a:srgbClr val="3E7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Pre-trained Eval</a:t>
            </a:r>
            <a:br/>
            <a:r>
              <a:t>Zero/Few-shot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696712" y="1993392"/>
            <a:ext cx="173736" cy="320040"/>
          </a:xfrm>
          <a:prstGeom prst="rightArrow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0" y="1828800"/>
            <a:ext cx="2286000" cy="6400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Fine-tuning</a:t>
            </a:r>
            <a:br/>
            <a:r>
              <a:t>Single-task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302752" y="1993392"/>
            <a:ext cx="173736" cy="320040"/>
          </a:xfrm>
          <a:prstGeom prst="rightArrow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49640" y="1828800"/>
            <a:ext cx="2286000" cy="6400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Multi-task</a:t>
            </a:r>
            <a:br/>
            <a:r>
              <a:t>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B2A4A"/>
                </a:solidFill>
                <a:latin typeface="Calibri"/>
              </a:defRPr>
              <a:lnSpc>
                <a:spcPct val="114999"/>
              </a:lnSpc>
            </a:pPr>
            <a:r>
              <a:t>Baselines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6324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TF-IDF + Logistic Regression / SVM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Loughran-McDonald lexicon (rule-based)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Lexicon-augmented TF-IDF features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Purpose: establish performance floor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743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B2A4A"/>
                </a:solidFill>
                <a:latin typeface="Calibri"/>
              </a:defRPr>
              <a:lnSpc>
                <a:spcPct val="114999"/>
              </a:lnSpc>
            </a:pPr>
            <a:r>
              <a:t>Pre-trained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06324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Zero-shot: FinBERT native sentiment head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Few-shot: 16-shot in-context w/ SetFit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Compare FinBERT vs BERT-base vs RoBERTa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Purpose: quantify domain pre-training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B2A4A"/>
                </a:solidFill>
                <a:latin typeface="Calibri"/>
              </a:defRPr>
              <a:lnSpc>
                <a:spcPct val="114999"/>
              </a:lnSpc>
            </a:pPr>
            <a:r>
              <a:t>Fine-tuning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06324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FinBERT: 5 epochs, weighted CE, task heads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BERT-base: LLRD, gradual unfreezing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Layer-wise LR decay (factor=0.9)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Purpose: maximize single-task perf.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743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B2A4A"/>
                </a:solidFill>
                <a:latin typeface="Calibri"/>
              </a:defRPr>
              <a:lnSpc>
                <a:spcPct val="114999"/>
              </a:lnSpc>
            </a:pPr>
            <a:r>
              <a:t>Multi-task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06324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Shared FinBERT encoder + 2 heads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Alternating task batches per step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Joint optimization, weighted CE for stance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Purpose: cross-task transfer / BEST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Baseline &amp; Lexicon Models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828800"/>
                <a:gridCol w="18288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Sentiment Acc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Sentiment F1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Stance Acc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Stance F1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TF-IDF + LR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87.0%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0.8382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60.1%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0.5612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TF-IDF + SVM (RBF)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89.4%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0.8661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63.3%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0.5830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LM Lexicon (rule-based)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62.8%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0.5100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45.2%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0.3880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TF-IDF + LM features + SVM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89.6%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0.8690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62.8%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0.5790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>
                <a:solidFill>
                  <a:srgbClr val="1B2A4A"/>
                </a:solidFill>
                <a:latin typeface="Calibri"/>
              </a:defRPr>
              <a:lnSpc>
                <a:spcPct val="114999"/>
              </a:lnSpc>
            </a:pPr>
            <a:r>
              <a:t>Key 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434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TF-IDF + SVM is the strongest baseline (RBF kernel, C=10)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Lexicon alone is weak: rule-based matching lacks context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LM feature augmentation gives marginal lift (+0.2% sentiment)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Stance consistently harder: best baseline only 63.3% accuracy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Macro-F1 penalises poor minority-class recall (dovish, negative)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>
                <a:solidFill>
                  <a:srgbClr val="1B2A4A"/>
                </a:solidFill>
                <a:latin typeface="Calibri"/>
              </a:defRPr>
              <a:lnSpc>
                <a:spcPct val="114999"/>
              </a:lnSpc>
            </a:pPr>
            <a:r>
              <a:t>Lexicon Approach Detail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3434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Loughran-McDonald: 6 sentiment categories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Rule-based: net sentiment = pos_count − neg_count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Feature aug: append LM category counts to TF-IDF vector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Limitation: ignores word order, negation, context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Motivates move to contextual embeddings (BERT family)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Pre-trained Model Evaluation (Zero/Few-shot)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645920"/>
                <a:gridCol w="1645920"/>
                <a:gridCol w="1920240"/>
                <a:gridCol w="1920240"/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Sentiment Acc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Sentiment F1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Stance Acc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Stance F1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FinBERT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Zero-shot (native head)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97.35%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0.9583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FinBERT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16-shot SetFit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97.70%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0.9630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54.0%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0.4900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BERT-base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16-shot SetFit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74.20%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0.6680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48.8%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0.4330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RoBERTa-base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16-shot SetFit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69.50%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0.6120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47.2%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0.4050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>
                <a:solidFill>
                  <a:srgbClr val="1B2A4A"/>
                </a:solidFill>
                <a:latin typeface="Calibri"/>
              </a:defRPr>
              <a:lnSpc>
                <a:spcPct val="114999"/>
              </a:lnSpc>
            </a:pPr>
            <a:r>
              <a:t>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3484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FinBERT zero-shot: 97.35% sentiment with NO training data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Domain pre-training encodes financial semantics directly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FinBERT 16-shot &gt;&gt; BERT 16-shot (+23.5 pp on sentiment)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General-purpose models struggle with financial 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023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>
                <a:solidFill>
                  <a:srgbClr val="1B2A4A"/>
                </a:solidFill>
                <a:latin typeface="Calibri"/>
              </a:defRPr>
              <a:lnSpc>
                <a:spcPct val="114999"/>
              </a:lnSpc>
            </a:pPr>
            <a:r>
              <a:t>Implications for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43484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FinBERT is the clear backbone choice for fine-tuning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Few-shot stance still weak — full fine-tuning needed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Domain-specific pre-training &gt;&gt; generic pre-training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Zero-shot viable for sentiment as a production baseline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Fine-tuning Approaches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484632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900" b="1">
                <a:solidFill>
                  <a:srgbClr val="1B2A4A"/>
                </a:solidFill>
                <a:latin typeface="Calibri"/>
              </a:defRPr>
              <a:lnSpc>
                <a:spcPct val="114999"/>
              </a:lnSpc>
            </a:pPr>
            <a:r>
              <a:t>FinBERT Single-Task Fine-tuning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Backbone: ProsusAI/finbert (pre-trained on financial text)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Architecture: [CLS] → dropout(0.1) → Linear(768, 3)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Optimizer: AdamW, lr=2e-5, weight_decay=0.01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Scheduler: linear warmup (10%) + linear decay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Loss: weighted cross-entropy (inverse class freq.)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Epochs: 5, batch_size=32, max_len=128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Results: 96.7% sentiment / 64.3% stance accuracy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Fast convergence; FinBERT features are already aligned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303520" cy="484632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900" b="1">
                <a:solidFill>
                  <a:srgbClr val="1B2A4A"/>
                </a:solidFill>
                <a:latin typeface="Calibri"/>
              </a:defRPr>
              <a:lnSpc>
                <a:spcPct val="114999"/>
              </a:lnSpc>
            </a:pPr>
            <a:r>
              <a:t>BERT-base + LLRD Fine-tuning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Backbone: bert-base-uncased (general domain)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Layer-wise LR Decay (LLRD): factor=0.9 per layer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Top layers learn fast, bottom layers preserved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Gradual unfreezing: freeze all, unfreeze top → bottom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Label smoothing: α=0.1 for regularisation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Epochs: 10, lr=3e-5, batch_size=16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Results: 96.5% sentiment / 63.7% stance accuracy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More epochs needed vs FinBERT; LLRD prevents catastrophic forgetting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Multi-task Learning (Extended Method)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D6E8F7"/>
                </a:solidFill>
                <a:latin typeface="Calibri"/>
              </a:defRPr>
              <a:lnSpc>
                <a:spcPct val="114999"/>
              </a:lnSpc>
            </a:pPr>
            <a:r>
              <a:t>Best-performing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463040"/>
            <a:ext cx="5760720" cy="6400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Shared FinBERT Encoder (12 layers, 768-d)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2103120"/>
            <a:ext cx="54864" cy="4572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0" y="2103120"/>
            <a:ext cx="54864" cy="4572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60320" y="2560320"/>
            <a:ext cx="3200400" cy="54864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Sentiment Head</a:t>
            </a:r>
            <a:br/>
            <a:r>
              <a:t>Linear(768, 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560320"/>
            <a:ext cx="3200400" cy="54864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Stance Head</a:t>
            </a:r>
            <a:br/>
            <a:r>
              <a:t>Linear(768, 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1B2A4A"/>
                </a:solidFill>
                <a:latin typeface="Calibri"/>
              </a:defRPr>
              <a:lnSpc>
                <a:spcPct val="114999"/>
              </a:lnSpc>
            </a:pPr>
            <a:r>
              <a:t>Training 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Alternating task batches: sentiment batch → stance batch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Shared encoder gradients from both tasks each step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Weighted CE for stance (handles class imbalance)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Standard CE for sentiment (more balanced)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AdamW, lr=2e-5, 8 epochs, linear warmup + decay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Early stopping on combined validation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1B2A4A"/>
                </a:solidFill>
                <a:latin typeface="Calibri"/>
              </a:defRPr>
              <a:lnSpc>
                <a:spcPct val="114999"/>
              </a:lnSpc>
            </a:pPr>
            <a:r>
              <a:t>Results (BEST MODEL)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0" y="3931920"/>
          <a:ext cx="4572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Sentiment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Stance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98.45%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67.74%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Macro-F1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0.9772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0.6684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Weighted-F1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0.9800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0.6583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400800" y="54864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7AE60"/>
                </a:solidFill>
                <a:latin typeface="Calibri"/>
              </a:defRPr>
              <a:lnSpc>
                <a:spcPct val="130000"/>
              </a:lnSpc>
            </a:pPr>
            <a:r>
              <a:t>• Improves over single-task FinBERT on BOTH tasks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7AE60"/>
                </a:solidFill>
                <a:latin typeface="Calibri"/>
              </a:defRPr>
              <a:lnSpc>
                <a:spcPct val="130000"/>
              </a:lnSpc>
            </a:pPr>
            <a:r>
              <a:t>• Cross-task regularization reduces overfitting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Results Summary — All Models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  <a:gridCol w="1645920"/>
                <a:gridCol w="1645920"/>
                <a:gridCol w="2926080"/>
              </a:tblGrid>
              <a:tr h="43226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Sent. Acc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Sent. F1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Stance Acc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Stance F1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TF-IDF + LR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87.0%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0.838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60.1%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0.561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TF-IDF + SVM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89.4%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0.866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63.3%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0.583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Best baseline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LM Lexicon (rule)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62.8%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0.510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45.2%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0.388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No context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TF-IDF + LM + SVM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89.6%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0.869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62.8%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0.579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Lexicon aug.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FinBERT zero-shot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97.35%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0.958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Native head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FinBERT 16-shot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97.70%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0.963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54.0%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0.490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SetFit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BERT 16-shot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74.20%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0.668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48.8%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0.433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SetFit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FinBERT fine-tuned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96.7%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0.952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64.3%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0.626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Single-task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BERT + LLRD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96.5%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0.948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63.7%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0.618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Single-task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27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55724"/>
                          </a:solidFill>
                          <a:latin typeface="Calibri"/>
                        </a:defRPr>
                      </a:pPr>
                      <a:r>
                        <a:t>Multi-task FinBERT</a:t>
                      </a:r>
                    </a:p>
                  </a:txBody>
                  <a:tcPr anchor="ctr"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55724"/>
                          </a:solidFill>
                          <a:latin typeface="Calibri"/>
                        </a:defRPr>
                      </a:pPr>
                      <a:r>
                        <a:t>98.45%</a:t>
                      </a:r>
                    </a:p>
                  </a:txBody>
                  <a:tcPr anchor="ctr"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55724"/>
                          </a:solidFill>
                          <a:latin typeface="Calibri"/>
                        </a:defRPr>
                      </a:pPr>
                      <a:r>
                        <a:t>0.977</a:t>
                      </a:r>
                    </a:p>
                  </a:txBody>
                  <a:tcPr anchor="ctr"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55724"/>
                          </a:solidFill>
                          <a:latin typeface="Calibri"/>
                        </a:defRPr>
                      </a:pPr>
                      <a:r>
                        <a:t>67.74%</a:t>
                      </a:r>
                    </a:p>
                  </a:txBody>
                  <a:tcPr anchor="ctr"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55724"/>
                          </a:solidFill>
                          <a:latin typeface="Calibri"/>
                        </a:defRPr>
                      </a:pPr>
                      <a:r>
                        <a:t>0.668</a:t>
                      </a:r>
                    </a:p>
                  </a:txBody>
                  <a:tcPr anchor="ctr"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55724"/>
                          </a:solidFill>
                          <a:latin typeface="Calibri"/>
                        </a:defRPr>
                      </a:pPr>
                      <a:r>
                        <a:t>BEST</a:t>
                      </a:r>
                    </a:p>
                  </a:txBody>
                  <a:tcPr anchor="ctr">
                    <a:solidFill>
                      <a:srgbClr val="D4EDD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Key Findings &amp;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94960" cy="22860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1B2A4A"/>
                </a:solidFill>
                <a:latin typeface="Calibri"/>
              </a:defRPr>
              <a:lnSpc>
                <a:spcPct val="114999"/>
              </a:lnSpc>
            </a:pPr>
            <a:r>
              <a:t>Domain Pre-training Is Essential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FinBERT few-shot (97.7%) &gt;&gt; BERT few-shot (74.2%) on sentiment (+23.5 pp)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Financial vocabulary and phrase semantics are encoded during MLM pre-training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General BERT treats 'volatility', 'bearish' as neutral tokens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371600"/>
            <a:ext cx="5394960" cy="22860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1B2A4A"/>
                </a:solidFill>
                <a:latin typeface="Calibri"/>
              </a:defRPr>
              <a:lnSpc>
                <a:spcPct val="114999"/>
              </a:lnSpc>
            </a:pPr>
            <a:r>
              <a:t>Multi-task Learning Benefits Both Tasks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Shared representations act as an inductive bias / regulariser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Sentiment head learns stance-relevant features (and vice versa)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Best combined performance: 98.45% sentiment, 67.74% stance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5394960" cy="22860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1B2A4A"/>
                </a:solidFill>
                <a:latin typeface="Calibri"/>
              </a:defRPr>
              <a:lnSpc>
                <a:spcPct val="114999"/>
              </a:lnSpc>
            </a:pPr>
            <a:r>
              <a:t>Stance Is Inherently Harder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Best stance accuracy: 67.74% vs. 98.45% sentiment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Subtle, hedged policy language: 'may consider adjusting' → ambiguous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Class imbalance: neutral ~50% dominates; dovish underrepresented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3931920"/>
            <a:ext cx="5394960" cy="22860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4023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1B2A4A"/>
                </a:solidFill>
                <a:latin typeface="Calibri"/>
              </a:defRPr>
              <a:lnSpc>
                <a:spcPct val="114999"/>
              </a:lnSpc>
            </a:pPr>
            <a:r>
              <a:t>Error Patterns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3891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Most common confusion: neutral ↔ hawkish (stance)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Dovish least represented → lowest per-class recall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Sentiment errors rare; mostly neutral/negative boundary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Error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>
                <a:solidFill>
                  <a:srgbClr val="1B2A4A"/>
                </a:solidFill>
                <a:latin typeface="Calibri"/>
              </a:defRPr>
              <a:lnSpc>
                <a:spcPct val="114999"/>
              </a:lnSpc>
            </a:pPr>
            <a:r>
              <a:t>Stance Classification Errors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Neutral ↔ Hawkish: most frequent confusion pair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"Mixed signal" sentences containing both tightening and easing cues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Hedged language: 'could', 'might', 'may consider' blurs stance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Conditional statements: hawkish action under dovish framing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Forward guidance vs. current assessment confusion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>
                <a:solidFill>
                  <a:srgbClr val="1B2A4A"/>
                </a:solidFill>
                <a:latin typeface="Calibri"/>
              </a:defRPr>
              <a:lnSpc>
                <a:spcPct val="114999"/>
              </a:lnSpc>
            </a:pPr>
            <a:r>
              <a:t>Sentiment Classification Errors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Errors are rare (&lt;2% for multi-task FinBERT)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Most errors at neutral/negative boundary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Financial idioms: 'limited upside' = negative, not neutral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Comparative statements sometimes misclassified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Multi-task reduces ambiguous-boundary errors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>
                <a:solidFill>
                  <a:srgbClr val="1B2A4A"/>
                </a:solidFill>
                <a:latin typeface="Calibri"/>
              </a:defRPr>
              <a:lnSpc>
                <a:spcPct val="114999"/>
              </a:lnSpc>
            </a:pPr>
            <a:r>
              <a:t>Multi-task Effect on Error Reduction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457200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560320"/>
                <a:gridCol w="2560320"/>
                <a:gridCol w="2926080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Error Type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Single-task FinBERT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Multi-task FinBERT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Neutral→Hawkish (stance)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18.2%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15.4%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−2.8 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Hawkish→Neutral (stance)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14.6%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13.1%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−1.5 pp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Neutral→Negative (sent.)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2.1%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−0.7 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Overall error rate (sent.)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3.3%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1.99%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−1.3 pp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Overall error rate (stance)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35.7%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34.07%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−1.6 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Demo &amp; Command-Line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27432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>
                <a:solidFill>
                  <a:srgbClr val="1B2A4A"/>
                </a:solidFill>
                <a:latin typeface="Calibri"/>
              </a:defRPr>
              <a:lnSpc>
                <a:spcPct val="114999"/>
              </a:lnSpc>
            </a:pPr>
            <a:r>
              <a:t>Gradio Web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Interactive text input with real-time predictions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Displays class probabilities as bar charts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Supports both multi-task and separate fine-tuned models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Toggle between model variants via dropdown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Launch: python demo.py --model multitask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303520" cy="27432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>
                <a:solidFill>
                  <a:srgbClr val="1B2A4A"/>
                </a:solidFill>
                <a:latin typeface="Calibri"/>
              </a:defRPr>
              <a:lnSpc>
                <a:spcPct val="114999"/>
              </a:lnSpc>
            </a:pPr>
            <a:r>
              <a:t>CLI for Batch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python cli.py --task sentiment --input file.csv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python cli.py --task stance --input file.csv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Outputs JSON / CSV with predictions + confidence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Supports --model flag: multitask | finbert | bert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Batch mode for large-scale 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>
                <a:solidFill>
                  <a:srgbClr val="1B2A4A"/>
                </a:solidFill>
                <a:latin typeface="Calibri"/>
              </a:defRPr>
              <a:lnSpc>
                <a:spcPct val="114999"/>
              </a:lnSpc>
            </a:pPr>
            <a:r>
              <a:t>Example Predictions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80060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463040"/>
                <a:gridCol w="1097280"/>
                <a:gridCol w="1463040"/>
                <a:gridCol w="26517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 Sentence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Sentiment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Conf.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Stance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Conf.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The Fed raised rates by 25 basis points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Neutral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Hawkish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Company profits exceeded analyst expectations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Positive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0.97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Inflation risks remain tilted to the upside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Negative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Hawkish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The committee will proceed carefully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Neutral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0.85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Neutral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0.61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Conclusion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1B2A4A"/>
                </a:solidFill>
                <a:latin typeface="Calibri"/>
              </a:defRPr>
              <a:lnSpc>
                <a:spcPct val="114999"/>
              </a:lnSpc>
            </a:pPr>
            <a: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Multi-task FinBERT achieves state-of-the-art on both tasks: 98.45% sentiment accuracy (F1=0.977), 67.74% stance accuracy (F1=0.668)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Domain-specific pre-training (FinBERT) is the single most impactful factor — few-shot FinBERT already outperforms fully-trained baselines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Multi-task learning provides consistent gains over single-task fine-tuning via shared encoder representations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Stance detection remains challenging due to inherent linguistic ambiguity in central-bank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>
                <a:solidFill>
                  <a:srgbClr val="1B2A4A"/>
                </a:solidFill>
                <a:latin typeface="Calibri"/>
              </a:defRPr>
              <a:lnSpc>
                <a:spcPct val="114999"/>
              </a:lnSpc>
            </a:pPr>
            <a:r>
              <a:t>Contributions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5196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Systematic comparison: baselines → zero/few-shot → fine-tuned → multi-task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Multi-task architecture for joint stance + sentiment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Comprehensive error analysis of stance classification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Deployable demo (Gradio) and CLI for practical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840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>
                <a:solidFill>
                  <a:srgbClr val="1B2A4A"/>
                </a:solidFill>
                <a:latin typeface="Calibri"/>
              </a:defRPr>
              <a:lnSpc>
                <a:spcPct val="114999"/>
              </a:lnSpc>
            </a:pPr>
            <a:r>
              <a:t>Future Directions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25196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More FOMC data: expand beyond 2,480 sentences (full minutes)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Cross-lingual: ECB, BOJ, BOE statements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Larger models: FinBERT-large, domain-adapted LLaMA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Temporal modelling: stance shifts across consecutive meetings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020"/>
                </a:solidFill>
                <a:latin typeface="Calibri"/>
              </a:defRPr>
              <a:lnSpc>
                <a:spcPct val="130000"/>
              </a:lnSpc>
            </a:pPr>
            <a:r>
              <a:t>• Explainability: attention analysis for policy-relevant tokens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COMP6713 2026 T1 — Financial NLP: Stance and Sentiment Classification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