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Multi-Task Financial NLP:
Stance &amp; Sentiment Classification of
FOMC Communications and News 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200"/>
                </a:solidFill>
              </a:rPr>
              <a:t>COMP6713 — Natural Language Processing — 2026 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Louis Nguyen  ·  Quoc Dat Bui  ·  Nam Khanh Tran  ·  Quang Minh Phan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FF"/>
                </a:solidFill>
              </a:rPr>
              <a:t>UNSW 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Multi-Task Financial NLP  ·  COMP6713 2026 T1  ·  UNSW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5156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1.  Problem — Two financial NLP tasks and why they matter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2.  Datasets — FOMC, Financial PhraseBank, Loughran–McDonald Lexicon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3.  Methodology — 6-stage pipeline from lexicon rules to multi-task transformers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4.  Results — 12 systems, two tasks, side-by-side comparison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5.  Analysis — Key findings, domain-pretraining gap, performance progression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6.  Deployment — CLI, Gradio demo, Hugging Face Hub release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000F2B"/>
                </a:solidFill>
              </a:rPr>
              <a:t>7. 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Problem  ·  Multi-Task Financial NLP  ·  COMP6713 2026 T1  ·  UNSW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Two Financial NLP Classification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Problem  ·  Multi-Task Financial NLP  ·  COMP6713 2026 T1  ·  UNSW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F2B"/>
                </a:solidFill>
              </a:rPr>
              <a:t>We tackle two complementary 3-class classification problems over short financial 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394960" cy="4389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394960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624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Stance — FOMC Communications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5257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Label the monetary-policy stance of a sentence from U.S. Federal Reserve meetings (Shah et al., 2023).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843D"/>
                </a:solidFill>
              </a:rPr>
              <a:t>  • dovish — easing bias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63E30"/>
                </a:solidFill>
              </a:rPr>
              <a:t>  • hawkish — tightening bias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neutral — no clear bias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333333"/>
                </a:solidFill>
              </a:rPr>
              <a:t>"…the Committee decided to lower the target range for the federal funds rate."  →  dovish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5394960" cy="4389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5394960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624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Sentiment — Financial PhraseBank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5257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Label the investor-facing tone of a news headline (Malo et al., 2014).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63E30"/>
                </a:solidFill>
              </a:rPr>
              <a:t>  • negative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neutral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843D"/>
                </a:solidFill>
              </a:rPr>
              <a:t>  • positive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333333"/>
                </a:solidFill>
              </a:rPr>
              <a:t>"Operating profit totalled EUR 21.1 mn, up from EUR 18.6 mn a year earlier."  →  positive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Problem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88136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Central-bank stance moves markets. </a:t>
            </a:r>
            <a:r>
              <a:rPr sz="1300">
                <a:solidFill>
                  <a:srgbClr val="1A1A1A"/>
                </a:solidFill>
              </a:rPr>
              <a:t>A single sentence shift between hawkish and dovish language in an FOMC statement can reprice rates, equities, and FX within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News sentiment drives short-horizon prices. </a:t>
            </a:r>
            <a:r>
              <a:rPr sz="1300">
                <a:solidFill>
                  <a:srgbClr val="1A1A1A"/>
                </a:solidFill>
              </a:rPr>
              <a:t>Headline tone correlates with intraday returns and is a staple input to systematic trading and risk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12264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Both tasks share domain vocabulary but differ in pragmatics: </a:t>
            </a:r>
            <a:r>
              <a:rPr sz="1300">
                <a:solidFill>
                  <a:srgbClr val="1A1A1A"/>
                </a:solidFill>
              </a:rPr>
              <a:t>Stance is about policy direction; sentiment is about corporate outlook. This motivates joint modelling.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24328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42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Labelled data is scarce and expensive. </a:t>
            </a:r>
            <a:r>
              <a:rPr sz="1300">
                <a:solidFill>
                  <a:srgbClr val="1A1A1A"/>
                </a:solidFill>
              </a:rPr>
              <a:t>FOMC: 2,480 sentences; FPB allagree: 2,264 sentences. Techniques that squeeze more signal from small corpora are essential.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36392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540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Practical goal: </a:t>
            </a:r>
            <a:r>
              <a:rPr sz="1300">
                <a:solidFill>
                  <a:srgbClr val="1A1A1A"/>
                </a:solidFill>
              </a:rPr>
              <a:t>A single deployable encoder that does both jobs competitively.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Datasets  ·  Multi-Task Financial NLP  ·  COMP6713 2026 T1  ·  UNSW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Dataset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Datasets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072384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424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1152144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042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05840"/>
            <a:ext cx="2249424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0424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005840"/>
            <a:ext cx="2706624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0424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Label distribution (test)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005840"/>
            <a:ext cx="2432304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0424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53312"/>
            <a:ext cx="307238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389888"/>
            <a:ext cx="2999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FOMC – Trillion Dollar Words
(Shah et al., 2023)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353312"/>
            <a:ext cx="115214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389888"/>
            <a:ext cx="1078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2,480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353312"/>
            <a:ext cx="224942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389888"/>
            <a:ext cx="21762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3 (dovish / hawkish / neutral)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353312"/>
            <a:ext cx="270662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1389888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dovish 130 (26.2%)
hawkish 121 (24.4%)
neutral 245 (49.4%)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353312"/>
            <a:ext cx="243230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38988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FOMC statements, minutes, press conferences. Neutral-heavy.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32304"/>
            <a:ext cx="3072384" cy="107899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468880"/>
            <a:ext cx="2999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Financial PhraseBank allagree
(Malo et al., 2014)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32304"/>
            <a:ext cx="1152144" cy="107899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468880"/>
            <a:ext cx="1078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2,264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32304"/>
            <a:ext cx="2249424" cy="107899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2468880"/>
            <a:ext cx="21762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3 (neg / neutral / pos)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432304"/>
            <a:ext cx="2706624" cy="107899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468880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negative 61 (13.5%)
neutral 278 (61.4%)
positive 114 (25.2%)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432304"/>
            <a:ext cx="2432304" cy="107899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2468880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News headlines with 100% annotator agreement. Neutral-dominant.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11296"/>
            <a:ext cx="307238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547872"/>
            <a:ext cx="2999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Loughran–McDonald Lexicon
(Loughran &amp; McDonald, 2011)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511296"/>
            <a:ext cx="115214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3547872"/>
            <a:ext cx="1078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511296"/>
            <a:ext cx="224942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3547872"/>
            <a:ext cx="21762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rule-based
(pos / neg / uncertainty)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3511296"/>
            <a:ext cx="270662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547872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pos ~110 terms
neg ~230 terms
uncertainty ~90 terms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3511296"/>
            <a:ext cx="2432304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3547872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Financial word lists; also hawkish (~40) &amp; dovish (~50) monetary-policy lists.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681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• Short texts (mostly &lt; 40 tokens) from the financial domain.
• FOMC and FPB are imbalanced with dominant neutral; LM Lexicon provides a domain-aware rule-based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Preprocessing &amp; Splits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Datasets  ·  Multi-Task Financial NLP  ·  COMP6713 2026 T1  ·  UNSW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621792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0F2B"/>
                </a:solidFill>
              </a:rPr>
              <a:t>Splits (stratified, random_state=42):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70% train / 10% validation / 20% test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FOMC: 1736 / 248 / 496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FPB allagree: 1584 / 227 / 453</a:t>
            </a:r>
          </a:p>
          <a:p>
            <a:pPr algn="l">
              <a:spcBef>
                <a:spcPts val="0"/>
              </a:spcBef>
            </a:pPr>
            <a:r>
              <a:rPr sz="7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0F2B"/>
                </a:solidFill>
              </a:rPr>
              <a:t>Text normalisation: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Unicode NFKC, strip control chars, collapse whitespace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Lower-case only for TF-IDF baselines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Keep case &amp; punctuation for BERT-family (max_len=128)</a:t>
            </a:r>
          </a:p>
          <a:p>
            <a:pPr algn="l">
              <a:spcBef>
                <a:spcPts val="0"/>
              </a:spcBef>
            </a:pPr>
            <a:r>
              <a:rPr sz="7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0F2B"/>
                </a:solidFill>
              </a:rPr>
              <a:t>Class weights for FOMC (weighted cross-entropy):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w_c = N / (K · n_c)     →     w = (1.272, 1.365, 0.675)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444444"/>
                </a:solidFill>
              </a:rPr>
              <a:t>  for (dovish, hawkish, neutral) with K=3, N=1736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960120"/>
            <a:ext cx="4846320" cy="5532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051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F2B"/>
                </a:solidFill>
              </a:rPr>
              <a:t>Class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5087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 analysis/class_distribution.png ]
Neutral dominates both tasks.
Negative (FPB) and hawkish (FOMC) are the scarcest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011680" cy="1097280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1. LM Lexicon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rule-based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1655064"/>
            <a:ext cx="192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143000"/>
            <a:ext cx="2011680" cy="1097280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2. 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+LR / +SVM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1655064"/>
            <a:ext cx="192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2011680" cy="1097280"/>
          </a:xfrm>
          <a:prstGeom prst="rect">
            <a:avLst/>
          </a:prstGeom>
          <a:solidFill>
            <a:srgbClr val="FFE5E0"/>
          </a:solidFill>
          <a:ln w="6350">
            <a:solidFill>
              <a:srgbClr val="FF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3. Zero-/Few-shot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probes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1655064"/>
            <a:ext cx="192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143000"/>
            <a:ext cx="2011680" cy="1097280"/>
          </a:xfrm>
          <a:prstGeom prst="rect">
            <a:avLst/>
          </a:prstGeom>
          <a:solidFill>
            <a:srgbClr val="FFE5E0"/>
          </a:solidFill>
          <a:ln w="6350">
            <a:solidFill>
              <a:srgbClr val="FF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4. FinBERT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fine-tune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1655064"/>
            <a:ext cx="192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143000"/>
            <a:ext cx="201168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5. BERT LLRD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+ gradual UF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788920"/>
            <a:ext cx="3657600" cy="914400"/>
          </a:xfrm>
          <a:prstGeom prst="rect">
            <a:avLst/>
          </a:prstGeom>
          <a:solidFill>
            <a:srgbClr val="CCEED8"/>
          </a:solidFill>
          <a:ln w="6350">
            <a:solidFill>
              <a:srgbClr val="CCE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880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F2B"/>
                </a:solidFill>
              </a:rPr>
              <a:t>6. Multi-task FinBERT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19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shared encoder + 2 heads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Each stage is a controlled upgrade: add features → add domain prior → add fine-tuning → add training recipe → add multi-task structure.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Every system is evaluated on the same held-out test sets — gains are directly comparable.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Baselines: Lexicon and 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LM Lexicon (rule-based) [Loughran &amp; McDonald 2011] — </a:t>
            </a:r>
            <a:r>
              <a:rPr sz="1200">
                <a:solidFill>
                  <a:srgbClr val="1A1A1A"/>
                </a:solidFill>
              </a:rPr>
              <a:t>Count positive/negative terms per sentence, predict by sign. Domain-specific but brittle — sign-counting cannot handle negation or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20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TF-IDF + Logistic Regression — </a:t>
            </a:r>
            <a:r>
              <a:rPr sz="1200">
                <a:solidFill>
                  <a:srgbClr val="1A1A1A"/>
                </a:solidFill>
              </a:rPr>
              <a:t>Bigrams (ngram=(1,2)), max_features=50k, sublinear_tf=True; LR with default ℓ₂ regularisation.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12848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TF-IDF + Linear SVM — </a:t>
            </a:r>
            <a:r>
              <a:rPr sz="1200">
                <a:solidFill>
                  <a:srgbClr val="1A1A1A"/>
                </a:solidFill>
              </a:rPr>
              <a:t>Same vectoriser; LinearSVC, C=1.0, class_weight='balanced' to offset the neutral skew.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79776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TF-IDF (trigrams) + LR — </a:t>
            </a:r>
            <a:r>
              <a:rPr sz="1200">
                <a:solidFill>
                  <a:srgbClr val="1A1A1A"/>
                </a:solidFill>
              </a:rPr>
              <a:t>Richer context: ngram=(1,3), max_features=80k, min_df=2. Adds monetary-policy phrases like 'target range federal funds rate'.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46704"/>
            <a:ext cx="73152" cy="256032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TF-IDF + LM Lexicon (hybrid) + LR — </a:t>
            </a:r>
            <a:r>
              <a:rPr sz="1200">
                <a:solidFill>
                  <a:srgbClr val="1A1A1A"/>
                </a:solidFill>
              </a:rPr>
              <a:t>Concatenate TF-IDF vectors with 8 normalised LM lexicon features (counts ÷ total words + net polarity). Tests whether hand-crafted signals complement surface n-grams.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These establish a domain-aware but shallow floor. Any neural model must clearly beat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Pre-trained Evaluation: Zero-shot and Few-shot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486400" cy="5532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F2B"/>
                </a:solidFill>
              </a:rPr>
              <a:t>Zero-shot FinBERT (native 3-way head)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Use the released {positive, negative, neutral} head directly on FPB — no parameter updates.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For FOMC: proxy map  positive → hawkish,  negative → dovish,  neutral → neutral.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  Tests whether sentiment is a usable proxy for stance.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No parameter updates.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60120"/>
            <a:ext cx="5486400" cy="5532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069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F2B"/>
                </a:solidFill>
              </a:rPr>
              <a:t>Few-shot linear probe (k=16 per class)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Freeze encoder, extract [CLS] embedding, fit logistic regression on 3 × 16 = 48 examples.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Compare three frozen backbones: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    – FinBERT  (ProsusAI/finbert)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    – BERT-base-uncased  (Devlin et al., 2019)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    – RoBERTa-base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Isolates domain pretraining value in a tiny-data setting.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Fine-tuning: FinBERT vs. BERT-base LLRD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486400" cy="544068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69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FinBERT single-task fine-tune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Backbone: ProsusAI/finbert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Optimiser: AdamW, lr 2e-5, weight decay 0.01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Schedule: linear warmup (10%) + linear decay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5 epochs, batch size 32, max_len=128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Weighted cross-entropy for FOMC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Strong domain prior, conventional recipe.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960120"/>
            <a:ext cx="5486400" cy="544068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0698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00"/>
                </a:solidFill>
              </a:rPr>
              <a:t>BERT-base LLRD + Gradual Unfreeze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Backbone: bert-base-uncased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Layer-wise LR decay: head 2e-5, × 0.9 per depth  →  η_d = 2×10⁻⁵ · 0.9^d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Label smoothing ε = 0.1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10 epochs, batch size 32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Gradual unfreeze: 1 layer group unlocked per epoch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FFFF"/>
                </a:solidFill>
              </a:rPr>
              <a:t>  • General-purpose backbone — no financial pretraining.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F2B"/>
                </a:solidFill>
              </a:rPr>
              <a:t>Key comparison: does domain pretraining (FinBERT) beat a better fine-tuning recipe (BERT-base)?  Result: they tie.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Multi-task FinBERT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Methodology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2286000" cy="640080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005840"/>
            <a:ext cx="2286000" cy="640080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F2B"/>
                </a:solidFill>
              </a:rPr>
              <a:t>FOMC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43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F2B"/>
                </a:solidFill>
              </a:rPr>
              <a:t>FPB batch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5212080" cy="77724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F2B"/>
                </a:solidFill>
              </a:rPr>
              <a:t>Shared FinBERT Encoder  →  768-dim [CLS]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6974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7706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F2B"/>
                </a:solidFill>
              </a:rPr>
              <a:t>Dropout(0.1)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2286000" cy="685800"/>
          </a:xfrm>
          <a:prstGeom prst="rect">
            <a:avLst/>
          </a:prstGeom>
          <a:solidFill>
            <a:srgbClr val="FFE5E0"/>
          </a:solidFill>
          <a:ln w="6350">
            <a:solidFill>
              <a:srgbClr val="FF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3520440"/>
            <a:ext cx="2286000" cy="685800"/>
          </a:xfrm>
          <a:prstGeom prst="rect">
            <a:avLst/>
          </a:prstGeom>
          <a:solidFill>
            <a:srgbClr val="CCEED8"/>
          </a:solidFill>
          <a:ln w="6350">
            <a:solidFill>
              <a:srgbClr val="CCE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F2B"/>
                </a:solidFill>
              </a:rPr>
              <a:t>Stance head
Linear(768,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66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F2B"/>
                </a:solidFill>
              </a:rPr>
              <a:t>Sentiment head
Linear(768,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F2B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F2B"/>
                </a:solidFill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F2B"/>
                </a:solidFill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F2B"/>
                </a:solidFill>
              </a:rPr>
              <a:t>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F2B"/>
                </a:solidFill>
              </a:rPr>
              <a:t>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960120"/>
            <a:ext cx="52120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0F2B"/>
                </a:solidFill>
              </a:rPr>
              <a:t>Training details (Liu et al., 2019):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Alternating batches: one FOMC batch → one FPB batch; each updates its own head + shared encoder.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AdamW, lr 2e-5, 8 epochs, batch size 32.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Per-task cross-entropy (weighted CE for stance).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Best checkpoint by average validation macro-F1 across both tasks.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• Apple M3 Max (MPS), seed 42.</a:t>
            </a:r>
          </a:p>
          <a:p>
            <a:pPr algn="l">
              <a:spcBef>
                <a:spcPts val="0"/>
              </a:spcBef>
            </a:pPr>
            <a:r>
              <a:rPr sz="7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333333"/>
                </a:solidFill>
              </a:rPr>
              <a:t>Shared encoder ⇒ stance examples regularise the sentiment head (and vice versa) — a free data-augmentation effect.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Baseline &amp; Lexicon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81304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0607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05840"/>
            <a:ext cx="143560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1060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00584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1060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005840"/>
            <a:ext cx="152704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060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0584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060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53312"/>
            <a:ext cx="3813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38988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LM Lexicon (rule-based)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353312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9664" y="1389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0.6932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35331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4" y="1389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0.5315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353312"/>
            <a:ext cx="1527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1389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0.4153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35331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1389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0.3885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700784"/>
            <a:ext cx="3813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17373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LR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1700784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9664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0.8720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1700784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32704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0.8232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700784"/>
            <a:ext cx="1527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0.6089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700784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0.5873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048256"/>
            <a:ext cx="381304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208483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SVM (LinearSVC)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048256"/>
            <a:ext cx="143560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9664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0.8940★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048256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32704" y="2084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0.8534★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2048256"/>
            <a:ext cx="152704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0.6331★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048256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58784" y="2084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0.6061★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395728"/>
            <a:ext cx="3813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24323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(trigrams) + LR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39572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0.8786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2395728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2704" y="2432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0.8310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2395728"/>
            <a:ext cx="1527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04304" y="24323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0.6109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395728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2432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0.5914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743200"/>
            <a:ext cx="3813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2779776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LM Lexicon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2743200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9664" y="27797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0.8543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2743200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32704" y="2779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0.8050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2743200"/>
            <a:ext cx="1527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04304" y="2779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0.6109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43200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58784" y="2779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0.5863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3227832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TF-IDF + LinearSVM is the strongest non-neural baseline on both tasks.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Lexicon alone is weak (FPB F1 0.5315, stance F1 0.3885) — sign-counting cannot handle negation or context.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Trigrams give only marginal lift over bigrams (+0.5 pp) — vocabulary grows faster than signal.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Adding LM-lexicon features to TF-IDF does not help — TF-IDF vocabulary already covers those words.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Pre-trained Models: Zero-shot and Few-shot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81304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0607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05840"/>
            <a:ext cx="143560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1060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00584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1060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005840"/>
            <a:ext cx="152704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060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00584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060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53312"/>
            <a:ext cx="3813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38988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zero-shot (native head)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353312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9664" y="1389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35331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4" y="1389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353312"/>
            <a:ext cx="1527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1389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0.4980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35331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1389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0.4874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700784"/>
            <a:ext cx="381304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173736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few-shot (k=16 probe)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1700784"/>
            <a:ext cx="143560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9664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0.9779★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1700784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32704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0.9670★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700784"/>
            <a:ext cx="152704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0.4859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700784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0.4534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048256"/>
            <a:ext cx="3813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208483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BERT-base few-shot (k=16)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2048256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9664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0.7417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048256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32704" y="2084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0.6500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2048256"/>
            <a:ext cx="1527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0.3851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048256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58784" y="2084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0.3744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395728"/>
            <a:ext cx="3813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24323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RoBERTa-base few-shot (k=16)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39572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0.7682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2395728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2704" y="2432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0.6722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2395728"/>
            <a:ext cx="152704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04304" y="24323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0.3730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395728"/>
            <a:ext cx="1344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24323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0.3600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288036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FinBERT zero-shot is already near-optimal on sentiment (F1 0.9650) — its pretraining matches FPB almost exactly.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FinBERT dominates both probes: +30 pp sentiment F1 over BERT/RoBERTa at k=16 — domain pretraining, not size, is what matters in low-data regimes.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Stance is much harder zero-shot: the positive→hawkish / negative→dovish proxy map only reaches F1 0.4874 — stance ≠ sentiment.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0F2B"/>
                </a:solidFill>
              </a:rPr>
              <a:t>  • The probe tops sentiment but loses a little stance F1 vs. native head — 48 examples is too few to learn 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Fine-tuned Single-Task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436168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19786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43000"/>
            <a:ext cx="143560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1197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197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143000"/>
            <a:ext cx="152704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197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143000"/>
            <a:ext cx="1344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197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90472"/>
            <a:ext cx="436168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52704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(fine-tuned)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490472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1527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49047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0.9459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1490472"/>
            <a:ext cx="152704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1527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0.6371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490472"/>
            <a:ext cx="1344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0.6194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37944"/>
            <a:ext cx="436168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18745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BERT-base LLRD + Gradual UF 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837944"/>
            <a:ext cx="143560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837944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1874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0.9670★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1837944"/>
            <a:ext cx="152704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874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0.6512★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1837944"/>
            <a:ext cx="1344168" cy="347472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0.6383★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459736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BERT-base with LLRD + gradual unfreeze matches FinBERT on sentiment (macro-F1 tied at 0.9670) and exceeds it on stance by +1.89 pp F1.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Takeaway: a disciplined fine-tuning recipe on a general-purpose backbone can close the domain-pretraining gap.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First evidence in our study that 'domain BERT' is not the only path to strong finance-domain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Multi-task FinBERT — Headline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493776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43D"/>
                </a:solidFill>
              </a:rPr>
              <a:t>Accuracy  0.9779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43D"/>
                </a:solidFill>
              </a:rPr>
              <a:t>Macro-F1  0.9666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143000"/>
            <a:ext cx="4937760" cy="201168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2344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F2B"/>
                </a:solidFill>
              </a:rPr>
              <a:t>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6916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43D"/>
                </a:solidFill>
              </a:rPr>
              <a:t>Accuracy  0.6492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43D"/>
                </a:solidFill>
              </a:rPr>
              <a:t>Macro-F1  0.6384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0972800" cy="685800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472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F2B"/>
                </a:solidFill>
              </a:rPr>
              <a:t>Δ vs. single-task FinBERT:   Sentiment +2.07 pp F1   |   Stance +1.90 pp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One shared encoder + two heads + alternating batches → improves both tasks over single-task FinBERT.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Sentiment F1 reaches 0.9666 (matching BERT LLRD's 0.9670); stance F1 reaches 0.6384 (within 0.0001 of BERT LLRD).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000F2B"/>
                </a:solidFill>
              </a:rPr>
              <a:t>  • Free lunch: no new data, only a second 768×3 head — training cost comparable to single-task.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Results Summary — All 12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63016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9692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914400"/>
            <a:ext cx="143560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784" y="969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914400"/>
            <a:ext cx="125272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969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Sent.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914400"/>
            <a:ext cx="143560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969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Acc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914400"/>
            <a:ext cx="1252728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969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Stance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61872"/>
            <a:ext cx="9144000" cy="274320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298448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0F2B"/>
                </a:solidFill>
              </a:rPr>
              <a:t>Traditional baselines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54480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15910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LM Lexicon (rule-based)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1554480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86784" y="15910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0.6932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1554480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15910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0.5315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554480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15910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0.4153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554480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15910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0.3885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01952"/>
            <a:ext cx="3630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19385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LR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1901952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6784" y="1938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0.8720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1901952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0.8232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901952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1938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0.6089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901952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4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0.5873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249424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SVM (LinearSVC)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2249424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86784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0.8940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249424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9824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0.8534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249424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9984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2249424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3024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0.6061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596896"/>
            <a:ext cx="3630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26334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(trigrams) + LR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2596896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86784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0.8786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2596896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9824" y="2633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0.8310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2596896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9984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2596896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26334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0.5914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944368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29809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TF-IDF + LM Lexicon (hybrid)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31920" y="294436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86784" y="2980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0.8543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2944368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49824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0.8050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294436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9984" y="29809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2944368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93024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0.5863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291840"/>
            <a:ext cx="9144000" cy="274320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3328416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0F2B"/>
                </a:solidFill>
              </a:rPr>
              <a:t>Pre-trained (zero-/few-shot)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584448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" y="36210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zero-shot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358444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86784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94960" y="3584448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9824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20" y="3584448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29984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0.4980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38160" y="3584448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93024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0.4874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931920"/>
            <a:ext cx="3630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39684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few-shot (k=16)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3931920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86784" y="3968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0.9779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94960" y="3931920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49824" y="3968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0.9670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3931920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29984" y="3968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0.4859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38160" y="3931920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193024" y="3968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0.4534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4279392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9184" y="43159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BERT-base few-shot (k=16)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931920" y="4279392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86784" y="4315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0.7417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4279392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49824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0.6500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4279392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29984" y="4315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0.3851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38160" y="4279392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193024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0.3744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4626864"/>
            <a:ext cx="3630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9184" y="4663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RoBERTa-base few-shot (k=16)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931920" y="4626864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86784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0.7682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394960" y="4626864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49824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0.6722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75120" y="4626864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729984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0.3730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38160" y="4626864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93024" y="4663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0.3600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4974336"/>
            <a:ext cx="9144000" cy="274320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5010912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0F2B"/>
                </a:solidFill>
              </a:rPr>
              <a:t>Fine-tuned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5266944"/>
            <a:ext cx="363016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9184" y="5303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FinBERT (fine-tuned)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931920" y="5266944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986784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0.9669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394960" y="5266944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449824" y="5303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0.9459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75120" y="5266944"/>
            <a:ext cx="143560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29984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0.6371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5266944"/>
            <a:ext cx="1252728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93024" y="5303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0.6194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5614416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9184" y="5650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BERT-base LLRD + Gradual UF ★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31920" y="5614416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86784" y="5650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0.9757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394960" y="5614416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49824" y="5650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0.9670★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675120" y="5614416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29984" y="5650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0.6512★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138160" y="5614416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193024" y="5650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0.6383★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5961888"/>
            <a:ext cx="9144000" cy="274320"/>
          </a:xfrm>
          <a:prstGeom prst="rect">
            <a:avLst/>
          </a:prstGeom>
          <a:solidFill>
            <a:srgbClr val="D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47472" y="5998464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0F2B"/>
                </a:solidFill>
              </a:rPr>
              <a:t>Multi-task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6254496"/>
            <a:ext cx="36301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9184" y="62910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Multi-task FinBERT ★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931920" y="6254496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986784" y="6291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0.9779★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394960" y="6254496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49824" y="6291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0.9666★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675120" y="6254496"/>
            <a:ext cx="14356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729984" y="6291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0.6492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138160" y="6254496"/>
            <a:ext cx="1252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193024" y="6291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0.6384★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4320" y="66934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F2B"/>
                </a:solidFill>
              </a:rPr>
              <a:t>Statistical tie at the top: Multi-task FinBERT and BERT-base LLRD are indistinguishable within ±0.1 pp on both macro-F1s. Two very different routes reach the same ceiling.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Error Analysis — Multi-task FinBERT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Results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149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Stance (FOMC test, N=496)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07592"/>
            <a:ext cx="3200400" cy="329184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07592"/>
            <a:ext cx="1828800" cy="329184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624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dovish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3624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0.6174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5506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65506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709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hawkish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7099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0.5869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02536"/>
            <a:ext cx="3200400" cy="329184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002536"/>
            <a:ext cx="1828800" cy="329184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neutral (best)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057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0.7109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4231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1A1A"/>
                </a:solidFill>
              </a:rPr>
              <a:t>Most errors sit on the neutral vs. leaning boundary — hedged language is genuinely ambiguous.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1A1A"/>
                </a:solidFill>
              </a:rPr>
              <a:t>Hawkish is the weakest class (lowest count in train, most lexically diverse).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886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Sample misclassifications: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0624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"…the new statement conveys the Committee…"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5312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hawkish → predicted dovish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718304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"Looking ahead, reports from retailer contacts…"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96519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neutral → predicted dovish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23036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"Longer-term inflation expectations have moved…"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47725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hawkish → predicted neutral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960120"/>
            <a:ext cx="5394960" cy="347472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0149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Sentiment (FPB test, N=453)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307592"/>
            <a:ext cx="3200400" cy="329184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307592"/>
            <a:ext cx="2194560" cy="329184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3624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negative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3624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0.9500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55064"/>
            <a:ext cx="3200400" cy="329184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0" y="1655064"/>
            <a:ext cx="2194560" cy="329184"/>
          </a:xfrm>
          <a:prstGeom prst="rect">
            <a:avLst/>
          </a:prstGeom>
          <a:solidFill>
            <a:srgbClr val="FFD200"/>
          </a:solidFill>
          <a:ln w="6350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709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neutral (best)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709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0.9928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00253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0" y="2002536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positive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057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F2B"/>
                </a:solidFill>
              </a:rPr>
              <a:t>0.9569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4231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1A1A"/>
                </a:solidFill>
              </a:rPr>
              <a:t>Only ~10 errors across 453 test sentences — sentiment is near-saturated.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A1A1A"/>
                </a:solidFill>
              </a:rPr>
              <a:t>Remaining errors are subtle 'compared with' comparative constructions.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86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Sample misclassifications: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20624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"Operating loss was EUR 179mn, compared to a loss…"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45312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positive → predicted negative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71830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"In Jan–Jun 2010, diluted loss per share…"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9651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negative → predicted positive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23036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"Unit costs for flight operations fell by 6.4 percent…"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47725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E30"/>
                </a:solidFill>
              </a:rPr>
              <a:t>gold positive → predicted negative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Analysis  ·  Multi-Task Financial NLP  ·  COMP6713 2026 T1  ·  UNSW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Analysis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60704"/>
            <a:ext cx="9144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784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1. Stance is a fundamentally harder task than sentiment.  </a:t>
            </a:r>
            <a:r>
              <a:rPr sz="1200">
                <a:solidFill>
                  <a:srgbClr val="1A1A1A"/>
                </a:solidFill>
              </a:rPr>
              <a:t>Every model loses ~30 pp macro-F1 going from FPB to FOMC. Not about data size — about label pragmatics.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9144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453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2. Sentiment is saturated by domain pretraining alone.  </a:t>
            </a:r>
            <a:r>
              <a:rPr sz="1200">
                <a:solidFill>
                  <a:srgbClr val="1A1A1A"/>
                </a:solidFill>
              </a:rPr>
              <a:t>FinBERT zero-shot reaches F1 0.9650; fine-tuning adds almost nothing on FPB. Extra capacity is spent on stance.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9144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11226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3. A careful fine-tuning recipe rivals domain pretraining.  </a:t>
            </a:r>
            <a:r>
              <a:rPr sz="1200">
                <a:solidFill>
                  <a:srgbClr val="1A1A1A"/>
                </a:solidFill>
              </a:rPr>
              <a:t>BERT-base with LLRD + gradual unfreeze + label smoothing matches FinBERT on sentiment and beats it on 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61488"/>
            <a:ext cx="9144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791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4. Multi-task training is a free lunch.  </a:t>
            </a:r>
            <a:r>
              <a:rPr sz="1200">
                <a:solidFill>
                  <a:srgbClr val="1A1A1A"/>
                </a:solidFill>
              </a:rPr>
              <a:t>One shared encoder + two heads improves single-task FinBERT by +2.07 pp sentiment F1 and +1.90 pp stance F1, and ties BERT LLRD.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28416"/>
            <a:ext cx="9144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46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F2B"/>
                </a:solidFill>
              </a:rPr>
              <a:t>5. Zero-shot sentiment ≠ stance.  </a:t>
            </a:r>
            <a:r>
              <a:rPr sz="1200">
                <a:solidFill>
                  <a:srgbClr val="1A1A1A"/>
                </a:solidFill>
              </a:rPr>
              <a:t>The native FinBERT head maps poorly to hawkish/dovish (F1 0.4874) — tone and policy direction are different signals.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Domain-Pretraining Gap (k=16 probe)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Analysis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960120"/>
            <a:ext cx="9144000" cy="457200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[ analysis/domain_pretraining_gap.png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FinBERT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91640"/>
            <a:ext cx="7515910" cy="14593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70590" y="1691640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Sent 0.967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872325"/>
            <a:ext cx="3785158" cy="14593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9838" y="1872325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Stance 0.487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803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BERT-base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880360"/>
            <a:ext cx="5052060" cy="14593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6740" y="2880360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Sent 0.650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061045"/>
            <a:ext cx="2906877" cy="14593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1557" y="3061045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Stance 0.374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69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F2B"/>
                </a:solidFill>
              </a:rPr>
              <a:t>RoBERTa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069080"/>
            <a:ext cx="5223052" cy="14593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7732" y="4069080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Sent 0.672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249765"/>
            <a:ext cx="2798064" cy="14593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4249765"/>
            <a:ext cx="914400" cy="145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F2B"/>
                </a:solidFill>
              </a:rPr>
              <a:t>Stance 0.360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F2B"/>
                </a:solidFill>
              </a:rPr>
              <a:t>FinBERT outperforms BERT-base and RoBERTa by ~30 pp sentiment F1 in the low-data regime. Fine-tuning closes part of this gap — only when paired with a careful recipe (LLRD + gradual unfreeze).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Performance Progression Across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Analysis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960120"/>
            <a:ext cx="9144000" cy="457200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</a:rPr>
              <a:t>[ analysis/performance_progression.png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056" y="3897172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2027" y="2832811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8117" y="3401568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2998" y="2723083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9089" y="2814523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13970" y="2313432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0060" y="2554833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4941" y="2306116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71032" y="2346350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5913" y="2382926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12003" y="2381097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884" y="2306116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2974" y="2381097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77856" y="2306116"/>
            <a:ext cx="109728" cy="109728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3946" y="2342692"/>
            <a:ext cx="36576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2695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F2B"/>
                </a:solidFill>
              </a:rPr>
              <a:t>Sentiment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1056" y="4420209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2027" y="3696004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8117" y="4094683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72998" y="3626510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89089" y="3697833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13970" y="4061764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30060" y="3880713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54941" y="4186123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71032" y="4160520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95913" y="3578961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12003" y="3919118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884" y="3509467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52974" y="3580790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77856" y="3509467"/>
            <a:ext cx="109728" cy="109728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3946" y="3546043"/>
            <a:ext cx="36576" cy="36576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34728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4400"/>
                </a:solidFill>
              </a:rPr>
              <a:t>Stance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LM Lexicon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21131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TF-IDF+LR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2102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TF-IDF+SVM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3074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FinBERT ZS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4045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FinBERT 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5017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FinBERT 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5988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BERT LLRD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943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F2B"/>
                </a:solidFill>
              </a:rPr>
              <a:t>MT-FinBERT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0F2B"/>
                </a:solidFill>
              </a:rPr>
              <a:t>Sentiment plateaus early (FinBERT zero-shot near-ceiling); stance keeps climbing through fine-tuning and multi-task.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Deployment  ·  Multi-Task Financial NLP  ·  COMP6713 2026 T1  ·  UNSW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Deployment — CLI, Demo, and Hub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Deployment  ·  Multi-Task Financial NLP  ·  COMP6713 2026 T1  ·  UNSW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94360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00F2B"/>
                </a:solidFill>
              </a:rPr>
              <a:t>Command-line interface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333333"/>
                </a:solidFill>
              </a:rPr>
              <a:t>  python cli.py --text "The Committee decided to raise the target range."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Returns predicted stance and sentiment with class probabilities.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Loads multi-task FinBERT by default; single-task via --model flag.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A1A1A"/>
                </a:solidFill>
              </a:rPr>
              <a:t/>
            </a:r>
          </a:p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00F2B"/>
                </a:solidFill>
              </a:rPr>
              <a:t>Interactive Gradio demo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0055AA"/>
                </a:solidFill>
              </a:rPr>
              <a:t>  http://localhost:7860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Text box + live predictions + per-class probability bars.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1A1A1A"/>
                </a:solidFill>
              </a:rPr>
              <a:t>  Same checkpoint as CLI — fully reproducible.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960120"/>
            <a:ext cx="5212080" cy="553212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0698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F2B"/>
                </a:solidFill>
              </a:rPr>
              <a:t>Hugging Face Hub — 5 public model repos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527048"/>
            <a:ext cx="5029200" cy="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270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  Louisnguyen/finbert-fomc-stance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874520"/>
            <a:ext cx="5029200" cy="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  Louisnguyen/finbert-fpb-sentiment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221992"/>
            <a:ext cx="5029200" cy="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2199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  Louisnguyen/bert-llrd-fomc-stance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569464"/>
            <a:ext cx="5029200" cy="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56946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  Louisnguyen/bert-llrd-fpb-sentiment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916936"/>
            <a:ext cx="5029200" cy="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91693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F2B"/>
                </a:solidFill>
              </a:rPr>
              <a:t>  Louisnguyen/finbert-multitask-fomc-fpb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3558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Each repo ships weights, tokenizer config, and an inference code snippet.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Summary  ·  Multi-Task Financial NLP  ·  COMP6713 2026 T1  ·  UNSW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40664"/>
            <a:ext cx="12188952" cy="36576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F2B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Summary  ·  Multi-Task Financial NLP  ·  COMP6713 2026 T1  ·  UNSW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011680" cy="82296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200"/>
                </a:solidFill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097280"/>
            <a:ext cx="9601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18872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F2B"/>
                </a:solidFill>
              </a:rPr>
              <a:t>Joint stance (FOMC) and sentiment (FPB) classification on small, imbalanced financial corpora.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2011680" cy="82296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58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200"/>
                </a:solidFill>
              </a:rPr>
              <a:t>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057400"/>
            <a:ext cx="9601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F2B"/>
                </a:solidFill>
              </a:rPr>
              <a:t>Six-stage progression: LM-lexicon rules → TF-IDF → zero/few-shot probes → single-task fine-tuning (FinBERT &amp; BERT-LLRD) → multi-task FinBERT.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2011680" cy="82296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18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200"/>
                </a:solidFill>
              </a:rPr>
              <a:t>Headline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017520"/>
            <a:ext cx="9601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10896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F2B"/>
                </a:solidFill>
              </a:rPr>
              <a:t>Multi-task FinBERT and BERT-base LLRD tie for best on both tasks (sentiment F1 ≈ 0.967; stance F1 ≈ 0.638). Multi-task beats single-task FinBERT by +2.07 pp sentiment / +1.90 pp stance F1.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2011680" cy="822960"/>
          </a:xfrm>
          <a:prstGeom prst="rect">
            <a:avLst/>
          </a:prstGeom>
          <a:solidFill>
            <a:srgbClr val="00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1788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200"/>
                </a:solidFill>
              </a:rPr>
              <a:t>Key lesson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977640"/>
            <a:ext cx="96012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406908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F2B"/>
                </a:solidFill>
              </a:rPr>
              <a:t>Domain pretraining and careful fine-tuning recipes are substitutes, not complements — either one reaches the ceiling for this data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F2B"/>
                </a:solidFill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